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human, not the tech. AgriMesh puts a crop doctor inside a basic phone that works with no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Let the judges feel the helplessness — the cure existed and was near; only the information was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gap: diagnosis exists, but it's locked behind connectivity these farmers don't have. Numbers are FAO.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market-gap slide. Say it plainly: half a billion farmers, and the current systems reach almost none of them. That's the white space AgriMesh 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against the three existing approaches. Each fails the disconnected farmer for a different reason; we're built precisely for that farmer.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wall honestly and mathematically — it earns credibility for the pivot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idea. Move decisions, not data. Say it plainly — it's the line judges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steps left to right. Emphasise that the heavy lifting is offline on-device.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measured numbers from the shipped model — not aspirations. The damage % is the image-processing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live 'wow' in the demo: set Center B to 0 stock and the route jumps to the next stocked center.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love responsible-AI thinking. This is the maturity slide — it defers rather than misadvises.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Pivot to the live demo here. Everything on the list is real and testable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upside: huge TAM, near-zero cost to scale because the AI is on the device and the transport is 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crisp comparison. We're the only one that clears every row for this specific segment.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you opened. Same farmer, different ending. End on the one-line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C6E3F"/>
          </a:solidFill>
          <a:ln w="12700">
            <a:solidFill>
              <a:srgbClr val="2C6E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291840"/>
            <a:ext cx="4206240" cy="4206240"/>
          </a:xfrm>
          <a:prstGeom prst="ellipse">
            <a:avLst/>
          </a:prstGeom>
          <a:solidFill>
            <a:srgbClr val="0E2817"/>
          </a:solidFill>
          <a:ln w="12700">
            <a:solidFill>
              <a:srgbClr val="0E28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211580"/>
            <a:ext cx="457200" cy="457200"/>
          </a:xfrm>
          <a:prstGeom prst="ellipse">
            <a:avLst/>
          </a:prstGeom>
          <a:solidFill>
            <a:srgbClr val="4E9F4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AgriMesh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crop doctor that works where the internet doesn't.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farmer photographs a sick leaf. The phone diagnoses it offline — and </a:t>
            </a:r>
            <a:pPr indent="0" marL="0">
              <a:buNone/>
            </a:pPr>
            <a:r>
              <a:rPr lang="en-US" sz="1600" b="1" dirty="0">
                <a:solidFill>
                  <a:srgbClr val="E8A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11-byte text</a:t>
            </a:r>
            <a:pPr indent="0" marL="0">
              <a:buNone/>
            </a:pPr>
            <a:r>
              <a:rPr lang="en-US" sz="1600" dirty="0">
                <a:solidFill>
                  <a:srgbClr val="D8E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brings back the cure. The image never travels.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Pitch  ·  Offline-first Edge AI for agriculture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3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Ramesh.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6766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farms two acres of potato — his daughter's school fees, a year of food, a loan to repay.
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morning he finds </a:t>
            </a:r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E8A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spots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leaves. He doesn't know what it is. He can't Google it — </a:t>
            </a:r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bar of 2G, on a good day.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nearest officer is a day's travel away.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he waits. And the disease spreads.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955280" y="1737360"/>
            <a:ext cx="3566160" cy="3108960"/>
          </a:xfrm>
          <a:prstGeom prst="roundRect">
            <a:avLst>
              <a:gd name="adj" fmla="val 4118"/>
            </a:avLst>
          </a:prstGeom>
          <a:solidFill>
            <a:srgbClr val="0E2817"/>
          </a:solidFill>
          <a:ln w="12700">
            <a:solidFill>
              <a:srgbClr val="2C6E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20574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 wasn't that a cure didn't exist.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0" y="29718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fungicide sat in a shop 5 km away.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0" y="36576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E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lost the crop for want of one thing: information, in time.”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later, the field is gone. This is not one story — it is hundreds of millions.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isn't the cure. It's the distance to it.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745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40%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283464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world's crops are lost to pests &amp; disease — every single year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43400" y="164592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34840" y="18745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 B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0" y="283464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annual cost of plant disease to the global economy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46720" y="164592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0" y="18745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→ weeks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275320" y="283464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expert help to reach a remote village — usually too late to matter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6177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13351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80060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to diagnose a leaf already exists.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lives in the cloud — and the farmers who need it most have no way to reach the cloud.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FAO — State of the World's Plant Health (up to 40% crop loss; ~$220B/yr from plant disease).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a billion farmers. Almost none of them reached.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0876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M+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88920" y="16002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smallholder farmers in the developing world — each living or falling by one harvest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72200" y="150876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55080" y="150876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321040" y="16002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world's 570 M farms are smallholdings under 2 hectares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71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788920" y="30632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India's farmers are actually reached by agricultural extension services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297180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9718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5,000+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21040" y="30632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expert-to-farmer ratio in India — the recommended norm is 1 : 750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526280"/>
            <a:ext cx="10908792" cy="1417320"/>
          </a:xfrm>
          <a:prstGeom prst="roundRect">
            <a:avLst>
              <a:gd name="adj" fmla="val 6452"/>
            </a:avLst>
          </a:prstGeom>
          <a:solidFill>
            <a:srgbClr val="13351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66344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gap.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to save these crops exists — but the people who need it most are the exact ones it never reaches. That is the market no one is serving.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IFAD/FAO (500M smallholders; 84% of 570M farms &lt;2ha) · MANAGE/ICRISAT &amp; AESA (India extension reach 6.8%; ratio &lt;1:5000).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hasn't this been solved already?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existing fix quietly assumes something these farmers don't have.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488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apps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constant internet to upload the photo — but ~45% of rural India has no reliable data.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68680" y="457200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1D6D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572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Assumes connectivity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1488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officers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worker per 5,000+ farmers, ~52,000 posts unfilled. They can't reach everyone in time.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0" y="457200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1D6D3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4572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Assumes an expert on hand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1488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/ SMS blasts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274320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generic advice. It can't look at your leaf or say where your cure is in stock.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75320" y="457200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1D6D3"/>
          </a:solidFill>
          <a:ln/>
        </p:spPr>
      </p:sp>
      <p:sp>
        <p:nvSpPr>
          <p:cNvPr id="18" name="Text 16"/>
          <p:cNvSpPr/>
          <p:nvPr/>
        </p:nvSpPr>
        <p:spPr>
          <a:xfrm>
            <a:off x="8275320" y="4572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Assumes one-size-fits-all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33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AgriMesh assumes none of these. It needs no internet, no on-site expert, and it looks at your exact leaf.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TRAI/IAMAI (rural connectivity &amp; digital literacy) · MANAGE (vacant extension posts).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why not just send the photo?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physics doesn't allow it.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photo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383280" y="20116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~1,000,000 bytes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461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SMS (2G)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83280" y="324612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bytes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466344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compress a megabyte into 140 bytes.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512064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with any trick, transform, or clever math. It's a law, not a limitation. Everyone before us hit this wall and gave up on 2G.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766560" y="2011680"/>
            <a:ext cx="4754880" cy="4114800"/>
          </a:xfrm>
          <a:prstGeom prst="roundRect">
            <a:avLst>
              <a:gd name="adj" fmla="val 3111"/>
            </a:avLst>
          </a:prstGeom>
          <a:solidFill>
            <a:srgbClr val="13351F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26517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7,000×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766560" y="37490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big to fit.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949440" y="4480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 will never cross a 2G network.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3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05840"/>
            <a:ext cx="384048" cy="384048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3" name="Shape 1"/>
          <p:cNvSpPr/>
          <p:nvPr/>
        </p:nvSpPr>
        <p:spPr>
          <a:xfrm>
            <a:off x="870509" y="871423"/>
            <a:ext cx="384048" cy="384048"/>
          </a:xfrm>
          <a:prstGeom prst="ellipse">
            <a:avLst/>
          </a:prstGeom>
          <a:solidFill>
            <a:srgbClr val="4E9F4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37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we stopped trying to move the data.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move the </a:t>
            </a:r>
            <a:pPr indent="0" marL="0">
              <a:buNone/>
            </a:pPr>
            <a:r>
              <a:rPr lang="en-US" sz="34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instead.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doctor examines you for an hour, then writes one small prescription slip. You don't carry the X-ray machine to the pharmacy — you carry the slip.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93776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E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AgriMesh runs the AI on the phone. Only the </a:t>
            </a:r>
            <a:pPr indent="0" marL="0">
              <a:buNone/>
            </a:pPr>
            <a:r>
              <a:rPr lang="en-US" sz="17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pPr indent="0" marL="0">
              <a:buNone/>
            </a:pPr>
            <a:r>
              <a:rPr lang="en-US" sz="1700" dirty="0">
                <a:solidFill>
                  <a:srgbClr val="D8E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11 bytes — crosses the network. The image is read, then thrown away.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412480" y="3566160"/>
            <a:ext cx="3108960" cy="2468880"/>
          </a:xfrm>
          <a:prstGeom prst="roundRect">
            <a:avLst>
              <a:gd name="adj" fmla="val 5185"/>
            </a:avLst>
          </a:prstGeom>
          <a:solidFill>
            <a:srgbClr val="0E2817"/>
          </a:solidFill>
          <a:ln w="12700">
            <a:solidFill>
              <a:srgbClr val="2C6E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0" y="37947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8503920" y="4892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cross the network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03920" y="5349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C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D0A ttnfu8r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photo in, cure out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2194560"/>
            <a:ext cx="1993392" cy="2468880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44168" y="2423160"/>
            <a:ext cx="585216" cy="585216"/>
          </a:xfrm>
          <a:prstGeom prst="ellipse">
            <a:avLst/>
          </a:prstGeom>
          <a:solidFill>
            <a:srgbClr val="4E9F4E"/>
          </a:solidFill>
          <a:ln/>
        </p:spPr>
      </p:sp>
      <p:sp>
        <p:nvSpPr>
          <p:cNvPr id="5" name="Text 3"/>
          <p:cNvSpPr/>
          <p:nvPr/>
        </p:nvSpPr>
        <p:spPr>
          <a:xfrm>
            <a:off x="1344168" y="24231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3154680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leaf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365760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photographs it in the field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15184" y="3017520"/>
            <a:ext cx="29260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2889504" y="2194560"/>
            <a:ext cx="1993392" cy="2468880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93592" y="2423160"/>
            <a:ext cx="585216" cy="585216"/>
          </a:xfrm>
          <a:prstGeom prst="ellipse">
            <a:avLst/>
          </a:prstGeom>
          <a:solidFill>
            <a:srgbClr val="2C6E3F"/>
          </a:solidFill>
          <a:ln/>
        </p:spPr>
      </p:sp>
      <p:sp>
        <p:nvSpPr>
          <p:cNvPr id="11" name="Text 9"/>
          <p:cNvSpPr/>
          <p:nvPr/>
        </p:nvSpPr>
        <p:spPr>
          <a:xfrm>
            <a:off x="3593592" y="24231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999232" y="3154680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 the phone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9232" y="365760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offline in ~1 second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64608" y="3017520"/>
            <a:ext cx="29260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5138928" y="2194560"/>
            <a:ext cx="1993392" cy="2468880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43016" y="2423160"/>
            <a:ext cx="585216" cy="585216"/>
          </a:xfrm>
          <a:prstGeom prst="ellipse">
            <a:avLst/>
          </a:prstGeom>
          <a:solidFill>
            <a:srgbClr val="E8A72C"/>
          </a:solidFill>
          <a:ln/>
        </p:spPr>
      </p:sp>
      <p:sp>
        <p:nvSpPr>
          <p:cNvPr id="17" name="Text 15"/>
          <p:cNvSpPr/>
          <p:nvPr/>
        </p:nvSpPr>
        <p:spPr>
          <a:xfrm>
            <a:off x="5843016" y="24231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48656" y="3154680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11-byte SMS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48656" y="365760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+ location, over any 2G signal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114032" y="3017520"/>
            <a:ext cx="29260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7388352" y="2194560"/>
            <a:ext cx="1993392" cy="2468880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92440" y="2423160"/>
            <a:ext cx="585216" cy="585216"/>
          </a:xfrm>
          <a:prstGeom prst="ellipse">
            <a:avLst/>
          </a:prstGeom>
          <a:solidFill>
            <a:srgbClr val="2C6E3F"/>
          </a:solidFill>
          <a:ln/>
        </p:spPr>
      </p:sp>
      <p:sp>
        <p:nvSpPr>
          <p:cNvPr id="23" name="Text 21"/>
          <p:cNvSpPr/>
          <p:nvPr/>
        </p:nvSpPr>
        <p:spPr>
          <a:xfrm>
            <a:off x="8092440" y="24231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98080" y="3154680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98080" y="365760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nearest shop with the cure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363456" y="3017520"/>
            <a:ext cx="29260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637776" y="2194560"/>
            <a:ext cx="1993392" cy="2468880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41864" y="2423160"/>
            <a:ext cx="585216" cy="585216"/>
          </a:xfrm>
          <a:prstGeom prst="ellipse">
            <a:avLst/>
          </a:prstGeom>
          <a:solidFill>
            <a:srgbClr val="4E9F4E"/>
          </a:solidFill>
          <a:ln/>
        </p:spPr>
      </p:sp>
      <p:sp>
        <p:nvSpPr>
          <p:cNvPr id="29" name="Text 27"/>
          <p:cNvSpPr/>
          <p:nvPr/>
        </p:nvSpPr>
        <p:spPr>
          <a:xfrm>
            <a:off x="10341864" y="24231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747504" y="3154680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SMS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7504" y="365760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“Mancozeb at Center A, 4 km”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507492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13351F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516636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happen on the phone, fully offline.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tiny SMS needs a network — so it works exactly where cloud apps fail.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crop doctor — trained, tested, on-device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0020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743200" y="16002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&amp; disease classes across 20+ crops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60020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275320" y="16002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accuracy (91% on unseen images)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0896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 MB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743200" y="310896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runs in the browser — no app store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72200" y="3108960"/>
            <a:ext cx="52120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10896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275320" y="310896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fully offline after the first load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9CC85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89204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3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</a:t>
            </a:r>
            <a:pPr indent="0" marL="0">
              <a:buNone/>
            </a:pPr>
            <a:r>
              <a:rPr lang="en-US" sz="1800" dirty="0">
                <a:solidFill>
                  <a:srgbClr val="133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also reads </a:t>
            </a:r>
            <a:pPr indent="0" marL="0">
              <a:buNone/>
            </a:pPr>
            <a:r>
              <a:rPr lang="en-US" sz="1800" b="1" dirty="0">
                <a:solidFill>
                  <a:srgbClr val="133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leaf is damaged</a:t>
            </a:r>
            <a:pPr indent="0" marL="0">
              <a:buNone/>
            </a:pPr>
            <a:r>
              <a:rPr lang="en-US" sz="1800" dirty="0">
                <a:solidFill>
                  <a:srgbClr val="133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tells the farmer how much to cut — mild, moderate, or severe.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doesn't send them to the nearest shop.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sends them to the nearest shop that actually has the cure in stock.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 flipV="1">
            <a:off x="2468880" y="2880360"/>
            <a:ext cx="2926080" cy="822960"/>
          </a:xfrm>
          <a:prstGeom prst="line">
            <a:avLst/>
          </a:prstGeom>
          <a:noFill/>
          <a:ln w="31750">
            <a:solidFill>
              <a:srgbClr val="C0392B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2468880" y="3703320"/>
            <a:ext cx="6309360" cy="1280160"/>
          </a:xfrm>
          <a:prstGeom prst="line">
            <a:avLst/>
          </a:prstGeom>
          <a:noFill/>
          <a:ln w="50800">
            <a:solidFill>
              <a:srgbClr val="2C6E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3200400"/>
            <a:ext cx="1051560" cy="1051560"/>
          </a:xfrm>
          <a:prstGeom prst="ellipse">
            <a:avLst/>
          </a:prstGeom>
          <a:solidFill>
            <a:srgbClr val="9CC85A"/>
          </a:solidFill>
          <a:ln w="25400">
            <a:solidFill>
              <a:srgbClr val="2C6E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42976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46177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fungicide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920240"/>
            <a:ext cx="1051560" cy="1051560"/>
          </a:xfrm>
          <a:prstGeom prst="ellipse">
            <a:avLst/>
          </a:prstGeom>
          <a:solidFill>
            <a:srgbClr val="F1D6D3"/>
          </a:solidFill>
          <a:ln w="254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301752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97680" y="3337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km · 0 kg — skip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0" y="4480560"/>
            <a:ext cx="1051560" cy="1051560"/>
          </a:xfrm>
          <a:prstGeom prst="ellipse">
            <a:avLst/>
          </a:prstGeom>
          <a:solidFill>
            <a:srgbClr val="2C6E3F"/>
          </a:solidFill>
          <a:ln w="25400">
            <a:solidFill>
              <a:srgbClr val="2C6E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0" y="55778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680960" y="58978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km · 15 kg 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92640" y="1828800"/>
            <a:ext cx="1920240" cy="4023360"/>
          </a:xfrm>
          <a:prstGeom prst="roundRect">
            <a:avLst>
              <a:gd name="adj" fmla="val 5714"/>
            </a:avLst>
          </a:prstGeom>
          <a:solidFill>
            <a:srgbClr val="13351F"/>
          </a:solidFill>
          <a:ln/>
        </p:spPr>
      </p:sp>
      <p:sp>
        <p:nvSpPr>
          <p:cNvPr id="16" name="Text 14"/>
          <p:cNvSpPr/>
          <p:nvPr/>
        </p:nvSpPr>
        <p:spPr>
          <a:xfrm>
            <a:off x="9692640" y="21031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Stock-aware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Dijkstra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38360" y="3200400"/>
            <a:ext cx="1828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shop is treated as if it doesn't exist. The route bends to where the medicine actually is.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when it isn't sure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pesticide can cost a farmer a whole season. So the AI is built to defer, not to guess.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95728"/>
            <a:ext cx="548640" cy="548640"/>
          </a:xfrm>
          <a:prstGeom prst="ellipse">
            <a:avLst/>
          </a:prstGeom>
          <a:solidFill>
            <a:srgbClr val="2C6E3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95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24028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gate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63440" y="2194560"/>
            <a:ext cx="6611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85% it won't name a disease — it says “consult your officer.” Zero confidently-wrong advice.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4290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21608"/>
            <a:ext cx="548640" cy="548640"/>
          </a:xfrm>
          <a:prstGeom prst="ellipse">
            <a:avLst/>
          </a:prstGeom>
          <a:solidFill>
            <a:srgbClr val="2C6E3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356616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candidates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6611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look-alike diseases confuse it (e.g. rice), it shows the ranked possibilities instead of a dead end.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75488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47488"/>
            <a:ext cx="548640" cy="548640"/>
          </a:xfrm>
          <a:prstGeom prst="ellipse">
            <a:avLst/>
          </a:prstGeom>
          <a:solidFill>
            <a:srgbClr val="2C6E3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474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91640" y="489204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63440" y="4846320"/>
            <a:ext cx="6611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points to the nearest agri-officer — the AI assists the expert, it doesn't replace them.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3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mockup. It runs today.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256032" cy="256032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73736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 diagnosis (offline)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41448"/>
            <a:ext cx="256032" cy="256032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39572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Leaf-damage % + how-much-to-cut advice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099816"/>
            <a:ext cx="256032" cy="256032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11-byte SMS payload, 1 segment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758184"/>
            <a:ext cx="256032" cy="256032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712464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Stock-aware routing on a live road map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416552"/>
            <a:ext cx="256032" cy="256032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370832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+ SMS gateway (TextBee)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256032" cy="256032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02920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run · code on GitHub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955280" y="1280160"/>
            <a:ext cx="3200400" cy="4937760"/>
          </a:xfrm>
          <a:prstGeom prst="roundRect">
            <a:avLst>
              <a:gd name="adj" fmla="val 7143"/>
            </a:avLst>
          </a:prstGeom>
          <a:solidFill>
            <a:srgbClr val="0E2817"/>
          </a:solidFill>
          <a:ln w="25400">
            <a:solidFill>
              <a:srgbClr val="2C6E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73736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2C6E3F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1874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🦠 Potato — Late Blight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75320" y="2377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99%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7532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damage: 15% · Moderate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3383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2301C"/>
          </a:solidFill>
          <a:ln w="12700">
            <a:solidFill>
              <a:srgbClr val="2C6E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 Mancozeb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66760" y="38862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B · 4.2 km · 15 kg in stock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66760" y="43434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C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SMS → R:1Q C:B D:4.2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0" y="4937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github.com/ag1170-pixel/AgriMesh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we unlock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7373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M+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68680" y="225856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smallholder farmers — the total addressable market, defined by the exact constraint others design around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7373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6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 B / yr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0" y="225856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crop-loss value at stake to plant disease — the size of the problem we cut into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291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68680" y="381304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reached at just 1% penetration — a massive beachhead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31546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0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291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0" y="381304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per farmer: edge AI + SMS means near-zero cost to scale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89204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33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market measured in hundreds of millions — and it grows every year the climate makes crop disease worse.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IFAD/FAO (smallholder population) · FAO (annual plant-disease loss).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AgriMesh wins this segment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08792" cy="914400"/>
        </p:xfrm>
        <a:graphic>
          <a:graphicData uri="http://schemas.openxmlformats.org/drawingml/2006/table">
            <a:tbl>
              <a:tblPr/>
              <a:tblGrid>
                <a:gridCol w="4690872"/>
                <a:gridCol w="2377440"/>
                <a:gridCol w="2377440"/>
                <a:gridCol w="2377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AgriMesh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5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AI apps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B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officers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B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with no internet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Personal, leaf-specific diagnosis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Reaches farmers on 2G-only phones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Points to in-stock pesticide +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A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serve one more farmer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$$$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to millions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C6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A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33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AgriMesh clears every row — because it was built for the disconnected farmer, not adapted to them.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3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943600" cy="5943600"/>
          </a:xfrm>
          <a:prstGeom prst="ellipse">
            <a:avLst/>
          </a:prstGeom>
          <a:solidFill>
            <a:srgbClr val="2C6E3F"/>
          </a:solidFill>
          <a:ln w="12700">
            <a:solidFill>
              <a:srgbClr val="2C6E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98480" y="822960"/>
            <a:ext cx="457200" cy="457200"/>
          </a:xfrm>
          <a:prstGeom prst="ellipse">
            <a:avLst/>
          </a:prstGeom>
          <a:solidFill>
            <a:srgbClr val="9CC85A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0" y="662940"/>
            <a:ext cx="457200" cy="457200"/>
          </a:xfrm>
          <a:prstGeom prst="ellipse">
            <a:avLst/>
          </a:prstGeom>
          <a:solidFill>
            <a:srgbClr val="4E9F4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 to Ramesh.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hours ago: dread, and no one to ask.
</a:t>
            </a:r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E4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his ₹3,000 phone — with zero internet — just told him the disease, how bad it is, and where the cure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He's on his bicycle. </a:t>
            </a:r>
            <a:pPr indent="0" marL="0">
              <a:buNone/>
            </a:pPr>
            <a:r>
              <a:rPr lang="en-US" sz="3000" b="1" dirty="0">
                <a:solidFill>
                  <a:srgbClr val="E8A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crop lives. 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AgriMesh — move the decision, not the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AgriMesh — Pitch</dc:title>
  <dc:subject>PptxGenJS Presentation</dc:subject>
  <dc:creator>AgriMesh</dc:creator>
  <cp:lastModifiedBy>AgriMesh</cp:lastModifiedBy>
  <cp:revision>1</cp:revision>
  <dcterms:created xsi:type="dcterms:W3CDTF">2026-07-12T18:24:59Z</dcterms:created>
  <dcterms:modified xsi:type="dcterms:W3CDTF">2026-07-12T18:24:59Z</dcterms:modified>
</cp:coreProperties>
</file>